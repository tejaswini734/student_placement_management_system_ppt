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B3467-4854-425E-9F8D-E47F9AF29020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23329-86E6-4DE8-A5AB-1B3918074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571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23329-86E6-4DE8-A5AB-1B3918074DC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45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531" y="1927326"/>
            <a:ext cx="9264937" cy="120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STUDENT PLACEMENT</a:t>
            </a:r>
          </a:p>
          <a:p>
            <a:pPr algn="ctr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27782"/>
            <a:ext cx="8503920" cy="618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</a:t>
            </a:r>
            <a:r>
              <a:rPr lang="en-US" dirty="0"/>
              <a:t> : Polanati Gayathri Tejaswini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                           (PFS-ONR-006)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0536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Theme &amp;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66017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649" y="1959367"/>
            <a:ext cx="10872511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Theme</a:t>
            </a:r>
            <a:r>
              <a:rPr lang="en-US" b="1" dirty="0"/>
              <a:t> :</a:t>
            </a:r>
            <a:r>
              <a:rPr dirty="0"/>
              <a:t> A college placement cell needs a structured database for student details, companies, </a:t>
            </a:r>
            <a:r>
              <a:rPr lang="en-US" dirty="0"/>
              <a:t>    </a:t>
            </a:r>
            <a:r>
              <a:rPr dirty="0"/>
              <a:t>job roles, applications, assessments and placement offers.</a:t>
            </a:r>
          </a:p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Students</a:t>
            </a:r>
            <a:r>
              <a:rPr lang="en-US" b="1" dirty="0"/>
              <a:t> :</a:t>
            </a:r>
            <a:r>
              <a:rPr dirty="0"/>
              <a:t> profile, department, CGPA and skills.</a:t>
            </a:r>
          </a:p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Companies</a:t>
            </a:r>
            <a:r>
              <a:rPr lang="en-US" b="1" dirty="0"/>
              <a:t> :</a:t>
            </a:r>
            <a:r>
              <a:rPr dirty="0"/>
              <a:t> company name, location and industry.</a:t>
            </a:r>
          </a:p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Job Roles</a:t>
            </a:r>
            <a:r>
              <a:rPr lang="en-US" b="1" dirty="0"/>
              <a:t> : </a:t>
            </a:r>
            <a:r>
              <a:rPr dirty="0"/>
              <a:t>role title, eligibility CGPA and package.</a:t>
            </a:r>
          </a:p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Applications</a:t>
            </a:r>
            <a:r>
              <a:rPr lang="en-US" b="1" dirty="0"/>
              <a:t> :</a:t>
            </a:r>
            <a:r>
              <a:rPr dirty="0"/>
              <a:t> application date and current status.</a:t>
            </a:r>
          </a:p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Assessments</a:t>
            </a:r>
            <a:r>
              <a:rPr lang="en-US" b="1" dirty="0"/>
              <a:t> :</a:t>
            </a:r>
            <a:r>
              <a:rPr dirty="0"/>
              <a:t> aptitude and technical scores.</a:t>
            </a:r>
          </a:p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2000" b="0">
                <a:solidFill>
                  <a:srgbClr val="4B5865"/>
                </a:solidFill>
                <a:latin typeface="Aptos"/>
              </a:defRPr>
            </a:pPr>
            <a:r>
              <a:rPr b="1" dirty="0"/>
              <a:t>Placements</a:t>
            </a:r>
            <a:r>
              <a:rPr lang="en-US" b="1" dirty="0"/>
              <a:t> :</a:t>
            </a:r>
            <a:r>
              <a:rPr dirty="0"/>
              <a:t> offered package, offer date and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58892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" y="1226047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24346" y="203134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7689B"/>
                </a:solidFill>
                <a:latin typeface="Aptos"/>
              </a:defRPr>
            </a:pPr>
            <a:r>
              <a:rPr sz="2400" dirty="0"/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7969"/>
            <a:ext cx="512064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Placement records may be stored in separate files.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Tracking applications and status manually is difficult.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Reporting student eligibility and offers takes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601" y="203134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7689B"/>
                </a:solidFill>
                <a:latin typeface="Aptos"/>
              </a:defRPr>
            </a:pPr>
            <a:r>
              <a:rPr sz="2400" dirty="0"/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047969"/>
            <a:ext cx="512064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Centralize placement data.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Connect related records using primary and foreign keys.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Retrieve information using SQL filters, joins and aggregate functions.</a:t>
            </a:r>
          </a:p>
          <a:p>
            <a:pPr marL="285750" indent="-285750" algn="l">
              <a:spcAft>
                <a:spcPts val="500"/>
              </a:spcAft>
              <a:buFont typeface="Arial" panose="020B0604020202020204" pitchFamily="34" charset="0"/>
              <a:buChar char="•"/>
              <a:defRPr sz="1700" b="0">
                <a:solidFill>
                  <a:srgbClr val="4B5865"/>
                </a:solidFill>
                <a:latin typeface="Aptos"/>
              </a:defRPr>
            </a:pPr>
            <a:r>
              <a:rPr sz="2000" dirty="0"/>
              <a:t>Generate useful placement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364617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9274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lacement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380" y="1308735"/>
            <a:ext cx="8485240" cy="5226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6760" y="78982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Sample Data — Students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08680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03A018-CDF7-95D2-4FA5-79A9CBFFC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53528"/>
              </p:ext>
            </p:extLst>
          </p:nvPr>
        </p:nvGraphicFramePr>
        <p:xfrm>
          <a:off x="746760" y="2217273"/>
          <a:ext cx="10549031" cy="3754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5804">
                  <a:extLst>
                    <a:ext uri="{9D8B030D-6E8A-4147-A177-3AD203B41FA5}">
                      <a16:colId xmlns:a16="http://schemas.microsoft.com/office/drawing/2014/main" val="1330044366"/>
                    </a:ext>
                  </a:extLst>
                </a:gridCol>
                <a:gridCol w="1438879">
                  <a:extLst>
                    <a:ext uri="{9D8B030D-6E8A-4147-A177-3AD203B41FA5}">
                      <a16:colId xmlns:a16="http://schemas.microsoft.com/office/drawing/2014/main" val="2234229279"/>
                    </a:ext>
                  </a:extLst>
                </a:gridCol>
                <a:gridCol w="1419308">
                  <a:extLst>
                    <a:ext uri="{9D8B030D-6E8A-4147-A177-3AD203B41FA5}">
                      <a16:colId xmlns:a16="http://schemas.microsoft.com/office/drawing/2014/main" val="1156670522"/>
                    </a:ext>
                  </a:extLst>
                </a:gridCol>
                <a:gridCol w="1415190">
                  <a:extLst>
                    <a:ext uri="{9D8B030D-6E8A-4147-A177-3AD203B41FA5}">
                      <a16:colId xmlns:a16="http://schemas.microsoft.com/office/drawing/2014/main" val="2506609393"/>
                    </a:ext>
                  </a:extLst>
                </a:gridCol>
                <a:gridCol w="1421369">
                  <a:extLst>
                    <a:ext uri="{9D8B030D-6E8A-4147-A177-3AD203B41FA5}">
                      <a16:colId xmlns:a16="http://schemas.microsoft.com/office/drawing/2014/main" val="3482286555"/>
                    </a:ext>
                  </a:extLst>
                </a:gridCol>
                <a:gridCol w="2178403">
                  <a:extLst>
                    <a:ext uri="{9D8B030D-6E8A-4147-A177-3AD203B41FA5}">
                      <a16:colId xmlns:a16="http://schemas.microsoft.com/office/drawing/2014/main" val="1003505796"/>
                    </a:ext>
                  </a:extLst>
                </a:gridCol>
                <a:gridCol w="1480078">
                  <a:extLst>
                    <a:ext uri="{9D8B030D-6E8A-4147-A177-3AD203B41FA5}">
                      <a16:colId xmlns:a16="http://schemas.microsoft.com/office/drawing/2014/main" val="3503021071"/>
                    </a:ext>
                  </a:extLst>
                </a:gridCol>
              </a:tblGrid>
              <a:tr h="3415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Name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Dept.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Year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CGPA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Email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Skills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4225237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Ananya Rao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CSE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8.60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ananya.rao@example.com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Python, SQL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4121865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Rahul Kumar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ECE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2026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7.80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rahul.kumar@example.com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SQL, Excel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0826382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Meghana Reddy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CSE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9.10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meghana.reddy@example.com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Java, SQL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3078963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Arjun Varma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IT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7.20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arjun.varma@example.com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HTML, SQL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1828531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Sravya Patel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CSE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8.00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sravya.patel@example.com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Python, Java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182402"/>
                  </a:ext>
                </a:extLst>
              </a:tr>
              <a:tr h="7279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Kiran Das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EEE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6.90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kiran.das@example.com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Excel, Communication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8970606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7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Nisha Sharma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IT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8.40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nisha.sharma@example.com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Python, Power BI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1015302"/>
                  </a:ext>
                </a:extLst>
              </a:tr>
              <a:tr h="5595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Vivek Raju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ECE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2026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7.50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vivek.raju@example.com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C, SQL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79213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1410" y="10875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Sample Data — Companies &amp; Job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1410" y="1911246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825FA4-8756-F116-1667-99A27C13A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79593"/>
              </p:ext>
            </p:extLst>
          </p:nvPr>
        </p:nvGraphicFramePr>
        <p:xfrm>
          <a:off x="767090" y="4522838"/>
          <a:ext cx="10571468" cy="17894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2867">
                  <a:extLst>
                    <a:ext uri="{9D8B030D-6E8A-4147-A177-3AD203B41FA5}">
                      <a16:colId xmlns:a16="http://schemas.microsoft.com/office/drawing/2014/main" val="1980745582"/>
                    </a:ext>
                  </a:extLst>
                </a:gridCol>
                <a:gridCol w="2642867">
                  <a:extLst>
                    <a:ext uri="{9D8B030D-6E8A-4147-A177-3AD203B41FA5}">
                      <a16:colId xmlns:a16="http://schemas.microsoft.com/office/drawing/2014/main" val="2363628617"/>
                    </a:ext>
                  </a:extLst>
                </a:gridCol>
                <a:gridCol w="2642867">
                  <a:extLst>
                    <a:ext uri="{9D8B030D-6E8A-4147-A177-3AD203B41FA5}">
                      <a16:colId xmlns:a16="http://schemas.microsoft.com/office/drawing/2014/main" val="927057197"/>
                    </a:ext>
                  </a:extLst>
                </a:gridCol>
                <a:gridCol w="2642867">
                  <a:extLst>
                    <a:ext uri="{9D8B030D-6E8A-4147-A177-3AD203B41FA5}">
                      <a16:colId xmlns:a16="http://schemas.microsoft.com/office/drawing/2014/main" val="2342156717"/>
                    </a:ext>
                  </a:extLst>
                </a:gridCol>
              </a:tblGrid>
              <a:tr h="3578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Company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Company Name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Location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Industry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340445"/>
                  </a:ext>
                </a:extLst>
              </a:tr>
              <a:tr h="3578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TechNova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Hyderabad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Information Technology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432177"/>
                  </a:ext>
                </a:extLst>
              </a:tr>
              <a:tr h="3578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DataBridge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Bengaluru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Analytics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3403591"/>
                  </a:ext>
                </a:extLst>
              </a:tr>
              <a:tr h="3578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3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CloudPeak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Chennai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Cloud Services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546814"/>
                  </a:ext>
                </a:extLst>
              </a:tr>
              <a:tr h="3578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NextGen Systems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Hyderabad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Information Technology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9334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40433D-29A4-1454-DEE1-F4D9254B1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626354"/>
              </p:ext>
            </p:extLst>
          </p:nvPr>
        </p:nvGraphicFramePr>
        <p:xfrm>
          <a:off x="767090" y="2256602"/>
          <a:ext cx="10571470" cy="1867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4294">
                  <a:extLst>
                    <a:ext uri="{9D8B030D-6E8A-4147-A177-3AD203B41FA5}">
                      <a16:colId xmlns:a16="http://schemas.microsoft.com/office/drawing/2014/main" val="1434721533"/>
                    </a:ext>
                  </a:extLst>
                </a:gridCol>
                <a:gridCol w="2114294">
                  <a:extLst>
                    <a:ext uri="{9D8B030D-6E8A-4147-A177-3AD203B41FA5}">
                      <a16:colId xmlns:a16="http://schemas.microsoft.com/office/drawing/2014/main" val="2142708729"/>
                    </a:ext>
                  </a:extLst>
                </a:gridCol>
                <a:gridCol w="2114294">
                  <a:extLst>
                    <a:ext uri="{9D8B030D-6E8A-4147-A177-3AD203B41FA5}">
                      <a16:colId xmlns:a16="http://schemas.microsoft.com/office/drawing/2014/main" val="2895521939"/>
                    </a:ext>
                  </a:extLst>
                </a:gridCol>
                <a:gridCol w="2114294">
                  <a:extLst>
                    <a:ext uri="{9D8B030D-6E8A-4147-A177-3AD203B41FA5}">
                      <a16:colId xmlns:a16="http://schemas.microsoft.com/office/drawing/2014/main" val="370966895"/>
                    </a:ext>
                  </a:extLst>
                </a:gridCol>
                <a:gridCol w="2114294">
                  <a:extLst>
                    <a:ext uri="{9D8B030D-6E8A-4147-A177-3AD203B41FA5}">
                      <a16:colId xmlns:a16="http://schemas.microsoft.com/office/drawing/2014/main" val="2244920251"/>
                    </a:ext>
                  </a:extLst>
                </a:gridCol>
              </a:tblGrid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Job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Company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Job Title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Min CGPA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Package (LPA)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7817959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Junior SQL Developer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7.00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4.50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6389248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Data Analyst Trainee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7.50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5.00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6941094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Support Engineer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 dirty="0">
                          <a:effectLst/>
                        </a:rPr>
                        <a:t>6.50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3.80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83366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Python Developer Trainee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8.00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5.50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7591881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Graduate Engineer Trainee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7.00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4.20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9872026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Business Intelligence Intern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8.00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 dirty="0">
                          <a:effectLst/>
                        </a:rPr>
                        <a:t>4.80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22903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5691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Sample Data —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" y="1925549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17752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4B5865"/>
                </a:solidFill>
                <a:latin typeface="Aptos"/>
              </a:defRPr>
            </a:pP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1CEF20-6BEE-C00A-2B0F-3E26B6A13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781723"/>
              </p:ext>
            </p:extLst>
          </p:nvPr>
        </p:nvGraphicFramePr>
        <p:xfrm>
          <a:off x="865240" y="2585884"/>
          <a:ext cx="10107560" cy="3687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1512">
                  <a:extLst>
                    <a:ext uri="{9D8B030D-6E8A-4147-A177-3AD203B41FA5}">
                      <a16:colId xmlns:a16="http://schemas.microsoft.com/office/drawing/2014/main" val="920241350"/>
                    </a:ext>
                  </a:extLst>
                </a:gridCol>
                <a:gridCol w="2021512">
                  <a:extLst>
                    <a:ext uri="{9D8B030D-6E8A-4147-A177-3AD203B41FA5}">
                      <a16:colId xmlns:a16="http://schemas.microsoft.com/office/drawing/2014/main" val="4044530604"/>
                    </a:ext>
                  </a:extLst>
                </a:gridCol>
                <a:gridCol w="2021512">
                  <a:extLst>
                    <a:ext uri="{9D8B030D-6E8A-4147-A177-3AD203B41FA5}">
                      <a16:colId xmlns:a16="http://schemas.microsoft.com/office/drawing/2014/main" val="2580288828"/>
                    </a:ext>
                  </a:extLst>
                </a:gridCol>
                <a:gridCol w="2021512">
                  <a:extLst>
                    <a:ext uri="{9D8B030D-6E8A-4147-A177-3AD203B41FA5}">
                      <a16:colId xmlns:a16="http://schemas.microsoft.com/office/drawing/2014/main" val="219734456"/>
                    </a:ext>
                  </a:extLst>
                </a:gridCol>
                <a:gridCol w="2021512">
                  <a:extLst>
                    <a:ext uri="{9D8B030D-6E8A-4147-A177-3AD203B41FA5}">
                      <a16:colId xmlns:a16="http://schemas.microsoft.com/office/drawing/2014/main" val="3915897787"/>
                    </a:ext>
                  </a:extLst>
                </a:gridCol>
              </a:tblGrid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App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Student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Job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Date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Status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8728318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Selected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684637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Interview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7336857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Selected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908100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Applied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5762443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Rejected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2923509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Applied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487561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1007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Interview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0968900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7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2026-01-17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Assessment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0612308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1009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 dirty="0">
                          <a:effectLst/>
                        </a:rPr>
                        <a:t>8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Applied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9122425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1010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2026-01-19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Selected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8178302"/>
                  </a:ext>
                </a:extLst>
              </a:tr>
              <a:tr h="307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1011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 dirty="0">
                          <a:effectLst/>
                        </a:rPr>
                        <a:t>102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>
                          <a:effectLst/>
                        </a:rPr>
                        <a:t>2026-01-20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750" dirty="0">
                          <a:effectLst/>
                        </a:rPr>
                        <a:t>Interview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6792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616A94-4E34-2E27-F2CB-1E397453DE17}"/>
              </a:ext>
            </a:extLst>
          </p:cNvPr>
          <p:cNvSpPr txBox="1"/>
          <p:nvPr/>
        </p:nvSpPr>
        <p:spPr>
          <a:xfrm>
            <a:off x="4031226" y="3151641"/>
            <a:ext cx="60960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 </a:t>
            </a:r>
            <a:endParaRPr lang="en-IN" sz="11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Gautam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5892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Sample Data — Assessments &amp; Placements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" y="1473265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AE6416-B6AF-DF1C-5145-B53BBBF8F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513657"/>
              </p:ext>
            </p:extLst>
          </p:nvPr>
        </p:nvGraphicFramePr>
        <p:xfrm>
          <a:off x="835742" y="2117806"/>
          <a:ext cx="10068230" cy="1832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3646">
                  <a:extLst>
                    <a:ext uri="{9D8B030D-6E8A-4147-A177-3AD203B41FA5}">
                      <a16:colId xmlns:a16="http://schemas.microsoft.com/office/drawing/2014/main" val="734617368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1300398227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1337620675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2881510956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2383267171"/>
                    </a:ext>
                  </a:extLst>
                </a:gridCol>
              </a:tblGrid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Assessment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Application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Aptitude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Technical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Result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3944105"/>
                  </a:ext>
                </a:extLst>
              </a:tr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85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88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Passed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562830"/>
                  </a:ext>
                </a:extLst>
              </a:tr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72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78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Pending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132079"/>
                  </a:ext>
                </a:extLst>
              </a:tr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92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94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Passed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0308626"/>
                  </a:ext>
                </a:extLst>
              </a:tr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65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70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Failed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9031290"/>
                  </a:ext>
                </a:extLst>
              </a:tr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5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88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82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Passed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0588709"/>
                  </a:ext>
                </a:extLst>
              </a:tr>
              <a:tr h="26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6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1010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90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91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Passed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8903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71D003-CFE5-8290-485C-D8C2DCBB5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290199"/>
              </p:ext>
            </p:extLst>
          </p:nvPr>
        </p:nvGraphicFramePr>
        <p:xfrm>
          <a:off x="835742" y="4357498"/>
          <a:ext cx="10068230" cy="1738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3646">
                  <a:extLst>
                    <a:ext uri="{9D8B030D-6E8A-4147-A177-3AD203B41FA5}">
                      <a16:colId xmlns:a16="http://schemas.microsoft.com/office/drawing/2014/main" val="40866434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1808518743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137547510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1835220311"/>
                    </a:ext>
                  </a:extLst>
                </a:gridCol>
                <a:gridCol w="2013646">
                  <a:extLst>
                    <a:ext uri="{9D8B030D-6E8A-4147-A177-3AD203B41FA5}">
                      <a16:colId xmlns:a16="http://schemas.microsoft.com/office/drawing/2014/main" val="3347625422"/>
                    </a:ext>
                  </a:extLst>
                </a:gridCol>
              </a:tblGrid>
              <a:tr h="4346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Placement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Application ID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Package (LPA)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Offer Date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Status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3964836"/>
                  </a:ext>
                </a:extLst>
              </a:tr>
              <a:tr h="4346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4.50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2026-02-01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Accepted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317622"/>
                  </a:ext>
                </a:extLst>
              </a:tr>
              <a:tr h="4346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1003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5.00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2026-02-05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Offered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7072338"/>
                  </a:ext>
                </a:extLst>
              </a:tr>
              <a:tr h="4346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1010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5.50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2026-02-08</a:t>
                      </a:r>
                      <a:endParaRPr lang="en-IN" sz="95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Offered</a:t>
                      </a:r>
                      <a:endParaRPr lang="en-IN" sz="95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Gautam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654493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5209CF-5906-FC7C-6630-2553A4E35E6F}"/>
              </a:ext>
            </a:extLst>
          </p:cNvPr>
          <p:cNvSpPr txBox="1"/>
          <p:nvPr/>
        </p:nvSpPr>
        <p:spPr>
          <a:xfrm>
            <a:off x="3048000" y="2525249"/>
            <a:ext cx="609600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 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 </a:t>
            </a:r>
            <a:endParaRPr lang="en-IN" sz="11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Gautam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6621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Queries 1–4 | Basic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" y="1477526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B5865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E2DF4A-8DAA-D80E-F4FD-7EB115266D86}"/>
              </a:ext>
            </a:extLst>
          </p:cNvPr>
          <p:cNvSpPr txBox="1"/>
          <p:nvPr/>
        </p:nvSpPr>
        <p:spPr>
          <a:xfrm>
            <a:off x="502920" y="2077530"/>
            <a:ext cx="105613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1. Find students with CGPA above 8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* FROM students WHERE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cgpa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&gt; 8.0;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2. Display CSE students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* FROM students WHERE department = 'CSE';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3. Show companies located in Hyderabad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* FROM companies WHERE location = 'Hyderabad';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4. Display selected applications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* FROM applications WHERE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application_status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= 'Selected';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950" dirty="0">
              <a:effectLst/>
              <a:latin typeface="Aptos" panose="020B0004020202020204" pitchFamily="34" charset="0"/>
              <a:ea typeface="MS Mincho" panose="02020609040205080304" pitchFamily="49" charset="-128"/>
              <a:cs typeface="Gautam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4851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Queries 5–8 | Filters &amp; Aggregates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103" y="1669911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12107D-C2FE-0E42-846F-51B068F3EA13}"/>
              </a:ext>
            </a:extLst>
          </p:cNvPr>
          <p:cNvSpPr txBox="1"/>
          <p:nvPr/>
        </p:nvSpPr>
        <p:spPr>
          <a:xfrm>
            <a:off x="580103" y="2166112"/>
            <a:ext cx="8563897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5. Find job roles with package above 4 LPA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* FROM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job_roles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WHERE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package_lpa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&gt; 4.0;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6. Count total students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COUNT(*) AS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total_students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students;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7. Count students department-wise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department, COUNT(*) AS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student_count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students GROUP BY department;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8. Calculate average CGPA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ROUND(AVG(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cgpa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),2) AS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average_cgpa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students;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3671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Queries 9–12 | Aggregates &amp; JOINs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34373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990098"/>
            <a:ext cx="9753599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9. Find highest job package</a:t>
            </a:r>
            <a:endParaRPr lang="en-IN" b="1" dirty="0"/>
          </a:p>
          <a:p>
            <a:r>
              <a:rPr lang="en-US" dirty="0"/>
              <a:t>SELECT MAX(</a:t>
            </a:r>
            <a:r>
              <a:rPr lang="en-US" dirty="0" err="1"/>
              <a:t>package_lpa</a:t>
            </a:r>
            <a:r>
              <a:rPr lang="en-US" dirty="0"/>
              <a:t>) AS </a:t>
            </a:r>
            <a:r>
              <a:rPr lang="en-US" dirty="0" err="1"/>
              <a:t>highest_package_lpa</a:t>
            </a:r>
            <a:r>
              <a:rPr lang="en-US" dirty="0"/>
              <a:t> FROM </a:t>
            </a:r>
            <a:r>
              <a:rPr lang="en-US" dirty="0" err="1"/>
              <a:t>job_roles</a:t>
            </a:r>
            <a:r>
              <a:rPr lang="en-US" dirty="0"/>
              <a:t>;</a:t>
            </a:r>
            <a:br>
              <a:rPr lang="en-US" dirty="0"/>
            </a:br>
            <a:endParaRPr lang="en-IN" dirty="0"/>
          </a:p>
          <a:p>
            <a:r>
              <a:rPr lang="en-US" b="1" dirty="0"/>
              <a:t>10. Count applications by status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application_status</a:t>
            </a:r>
            <a:r>
              <a:rPr lang="en-US" dirty="0"/>
              <a:t>, COUNT(*) AS total FROM applications GROUP BY </a:t>
            </a:r>
            <a:r>
              <a:rPr lang="en-US" dirty="0" err="1"/>
              <a:t>application_status</a:t>
            </a:r>
            <a:r>
              <a:rPr lang="en-US" dirty="0"/>
              <a:t>;</a:t>
            </a:r>
            <a:br>
              <a:rPr lang="en-US" dirty="0"/>
            </a:br>
            <a:endParaRPr lang="en-IN" dirty="0"/>
          </a:p>
          <a:p>
            <a:r>
              <a:rPr lang="en-US" b="1" dirty="0"/>
              <a:t>11. Display student names and job roles applied for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s.student_name</a:t>
            </a:r>
            <a:r>
              <a:rPr lang="en-US" dirty="0"/>
              <a:t>, </a:t>
            </a:r>
            <a:r>
              <a:rPr lang="en-US" dirty="0" err="1"/>
              <a:t>j.job_title</a:t>
            </a:r>
            <a:r>
              <a:rPr lang="en-US" dirty="0"/>
              <a:t> FROM applications a JOIN students s ON </a:t>
            </a:r>
            <a:r>
              <a:rPr lang="en-US" dirty="0" err="1"/>
              <a:t>a.student_id</a:t>
            </a:r>
            <a:r>
              <a:rPr lang="en-US" dirty="0"/>
              <a:t>=</a:t>
            </a:r>
            <a:r>
              <a:rPr lang="en-US" dirty="0" err="1"/>
              <a:t>s.student_id</a:t>
            </a:r>
            <a:r>
              <a:rPr lang="en-US" dirty="0"/>
              <a:t> JOIN </a:t>
            </a:r>
            <a:r>
              <a:rPr lang="en-US" dirty="0" err="1"/>
              <a:t>job_roles</a:t>
            </a:r>
            <a:r>
              <a:rPr lang="en-US" dirty="0"/>
              <a:t> j ON </a:t>
            </a:r>
            <a:r>
              <a:rPr lang="en-US" dirty="0" err="1"/>
              <a:t>a.job_id</a:t>
            </a:r>
            <a:r>
              <a:rPr lang="en-US" dirty="0"/>
              <a:t>=</a:t>
            </a:r>
            <a:r>
              <a:rPr lang="en-US" dirty="0" err="1"/>
              <a:t>j.job_id</a:t>
            </a:r>
            <a:r>
              <a:rPr lang="en-US" dirty="0"/>
              <a:t>;</a:t>
            </a:r>
            <a:br>
              <a:rPr lang="en-US" dirty="0"/>
            </a:br>
            <a:endParaRPr lang="en-IN" dirty="0"/>
          </a:p>
          <a:p>
            <a:r>
              <a:rPr lang="en-US" b="1" dirty="0"/>
              <a:t>12. Display job titles with company names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j.job_title</a:t>
            </a:r>
            <a:r>
              <a:rPr lang="en-US" dirty="0"/>
              <a:t>, </a:t>
            </a:r>
            <a:r>
              <a:rPr lang="en-US" dirty="0" err="1"/>
              <a:t>c.company_name</a:t>
            </a:r>
            <a:r>
              <a:rPr lang="en-US" dirty="0"/>
              <a:t> FROM </a:t>
            </a:r>
            <a:r>
              <a:rPr lang="en-US" dirty="0" err="1"/>
              <a:t>job_roles</a:t>
            </a:r>
            <a:r>
              <a:rPr lang="en-US" dirty="0"/>
              <a:t> j JOIN companies c ON </a:t>
            </a:r>
            <a:r>
              <a:rPr lang="en-US" dirty="0" err="1"/>
              <a:t>j.company_id</a:t>
            </a:r>
            <a:r>
              <a:rPr lang="en-US" dirty="0"/>
              <a:t>=</a:t>
            </a:r>
            <a:r>
              <a:rPr lang="en-US" dirty="0" err="1"/>
              <a:t>c.company_id</a:t>
            </a:r>
            <a:r>
              <a:rPr lang="en-US" dirty="0"/>
              <a:t>;</a:t>
            </a:r>
            <a:br>
              <a:rPr lang="en-US" dirty="0"/>
            </a:br>
            <a:endParaRPr lang="en-IN" dirty="0"/>
          </a:p>
          <a:p>
            <a:pPr algn="r">
              <a:spcAft>
                <a:spcPts val="500"/>
              </a:spcAft>
              <a:defRPr sz="900" b="0">
                <a:solidFill>
                  <a:srgbClr val="4B5865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583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Queries 13–16 | Placement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571588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69684"/>
            <a:ext cx="10666525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13. Display students who received placement offers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s.student_name</a:t>
            </a:r>
            <a:r>
              <a:rPr lang="en-US" dirty="0"/>
              <a:t>, </a:t>
            </a:r>
            <a:r>
              <a:rPr lang="en-US" dirty="0" err="1"/>
              <a:t>p.offered_package_lpa</a:t>
            </a:r>
            <a:r>
              <a:rPr lang="en-US" dirty="0"/>
              <a:t> FROM placements p JOIN applications a ON </a:t>
            </a:r>
            <a:r>
              <a:rPr lang="en-US" dirty="0" err="1"/>
              <a:t>p.application_id</a:t>
            </a:r>
            <a:r>
              <a:rPr lang="en-US" dirty="0"/>
              <a:t>=</a:t>
            </a:r>
            <a:r>
              <a:rPr lang="en-US" dirty="0" err="1"/>
              <a:t>a.application_id</a:t>
            </a:r>
            <a:r>
              <a:rPr lang="en-US" dirty="0"/>
              <a:t> JOIN students s ON </a:t>
            </a:r>
            <a:r>
              <a:rPr lang="en-US" dirty="0" err="1"/>
              <a:t>a.student_id</a:t>
            </a:r>
            <a:r>
              <a:rPr lang="en-US" dirty="0"/>
              <a:t>=</a:t>
            </a:r>
            <a:r>
              <a:rPr lang="en-US" dirty="0" err="1"/>
              <a:t>s.student_id</a:t>
            </a:r>
            <a:r>
              <a:rPr lang="en-US" dirty="0"/>
              <a:t>;</a:t>
            </a:r>
            <a:br>
              <a:rPr lang="en-US" dirty="0"/>
            </a:br>
            <a:endParaRPr lang="en-IN" dirty="0"/>
          </a:p>
          <a:p>
            <a:r>
              <a:rPr lang="en-US" b="1" dirty="0"/>
              <a:t>14. Count job roles for each company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c.company_name</a:t>
            </a:r>
            <a:r>
              <a:rPr lang="en-US" dirty="0"/>
              <a:t>, COUNT(</a:t>
            </a:r>
            <a:r>
              <a:rPr lang="en-US" dirty="0" err="1"/>
              <a:t>j.job_id</a:t>
            </a:r>
            <a:r>
              <a:rPr lang="en-US" dirty="0"/>
              <a:t>) AS </a:t>
            </a:r>
            <a:r>
              <a:rPr lang="en-US" dirty="0" err="1"/>
              <a:t>job_count</a:t>
            </a:r>
            <a:r>
              <a:rPr lang="en-US" dirty="0"/>
              <a:t> FROM companies c LEFT JOIN </a:t>
            </a:r>
            <a:r>
              <a:rPr lang="en-US" dirty="0" err="1"/>
              <a:t>job_roles</a:t>
            </a:r>
            <a:r>
              <a:rPr lang="en-US" dirty="0"/>
              <a:t> j ON </a:t>
            </a:r>
            <a:r>
              <a:rPr lang="en-US" dirty="0" err="1"/>
              <a:t>c.company_id</a:t>
            </a:r>
            <a:r>
              <a:rPr lang="en-US" dirty="0"/>
              <a:t>=</a:t>
            </a:r>
            <a:r>
              <a:rPr lang="en-US" dirty="0" err="1"/>
              <a:t>j.company_id</a:t>
            </a:r>
            <a:r>
              <a:rPr lang="en-US" dirty="0"/>
              <a:t> GROUP BY </a:t>
            </a:r>
            <a:r>
              <a:rPr lang="en-US" dirty="0" err="1"/>
              <a:t>c.company_id,c.company_name</a:t>
            </a:r>
            <a:r>
              <a:rPr lang="en-US" dirty="0"/>
              <a:t>;</a:t>
            </a:r>
            <a:br>
              <a:rPr lang="en-US" dirty="0"/>
            </a:br>
            <a:endParaRPr lang="en-IN" dirty="0"/>
          </a:p>
          <a:p>
            <a:r>
              <a:rPr lang="en-US" b="1" dirty="0"/>
              <a:t>15. Find students who have not applied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s.student_name</a:t>
            </a:r>
            <a:r>
              <a:rPr lang="en-US" dirty="0"/>
              <a:t> FROM students s LEFT JOIN applications a ON </a:t>
            </a:r>
            <a:r>
              <a:rPr lang="en-US" dirty="0" err="1"/>
              <a:t>s.student_id</a:t>
            </a:r>
            <a:r>
              <a:rPr lang="en-US" dirty="0"/>
              <a:t>=</a:t>
            </a:r>
            <a:r>
              <a:rPr lang="en-US" dirty="0" err="1"/>
              <a:t>a.student_id</a:t>
            </a:r>
            <a:r>
              <a:rPr lang="en-US" dirty="0"/>
              <a:t> WHERE </a:t>
            </a:r>
            <a:r>
              <a:rPr lang="en-US" dirty="0" err="1"/>
              <a:t>a.application_id</a:t>
            </a:r>
            <a:r>
              <a:rPr lang="en-US" dirty="0"/>
              <a:t> IS NULL;</a:t>
            </a:r>
            <a:br>
              <a:rPr lang="en-US" dirty="0"/>
            </a:br>
            <a:endParaRPr lang="en-IN" dirty="0"/>
          </a:p>
          <a:p>
            <a:r>
              <a:rPr lang="en-US" b="1" dirty="0"/>
              <a:t>16. Students with CGPA above average</a:t>
            </a:r>
            <a:endParaRPr lang="en-IN" b="1" dirty="0"/>
          </a:p>
          <a:p>
            <a:r>
              <a:rPr lang="en-US" dirty="0"/>
              <a:t>SELECT </a:t>
            </a:r>
            <a:r>
              <a:rPr lang="en-US" dirty="0" err="1"/>
              <a:t>student_name</a:t>
            </a:r>
            <a:r>
              <a:rPr lang="en-US" dirty="0"/>
              <a:t>, </a:t>
            </a:r>
            <a:r>
              <a:rPr lang="en-US" dirty="0" err="1"/>
              <a:t>cgpa</a:t>
            </a:r>
            <a:r>
              <a:rPr lang="en-US" dirty="0"/>
              <a:t> FROM students WHERE </a:t>
            </a:r>
            <a:r>
              <a:rPr lang="en-US" dirty="0" err="1"/>
              <a:t>cgpa</a:t>
            </a:r>
            <a:r>
              <a:rPr lang="en-US" dirty="0"/>
              <a:t> &gt; (SELECT AVG(</a:t>
            </a:r>
            <a:r>
              <a:rPr lang="en-US" dirty="0" err="1"/>
              <a:t>cgpa</a:t>
            </a:r>
            <a:r>
              <a:rPr lang="en-US" dirty="0"/>
              <a:t>) FROM students);</a:t>
            </a:r>
            <a:br>
              <a:rPr lang="en-US" dirty="0"/>
            </a:br>
            <a:endParaRPr lang="en-IN" dirty="0"/>
          </a:p>
          <a:p>
            <a:pPr algn="r">
              <a:spcAft>
                <a:spcPts val="500"/>
              </a:spcAft>
              <a:defRPr sz="900" b="0">
                <a:solidFill>
                  <a:srgbClr val="4B5865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56854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6365C"/>
                </a:solidFill>
                <a:latin typeface="Aptos"/>
              </a:defRPr>
            </a:pPr>
            <a:r>
              <a:rPr dirty="0"/>
              <a:t>Queries 17–20 | Advanced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" y="1384775"/>
            <a:ext cx="11155680" cy="32004"/>
          </a:xfrm>
          <a:prstGeom prst="rect">
            <a:avLst/>
          </a:prstGeom>
          <a:solidFill>
            <a:srgbClr val="27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BFF5C3-CFD7-ACC8-85C4-919A44F9AC17}"/>
              </a:ext>
            </a:extLst>
          </p:cNvPr>
          <p:cNvSpPr txBox="1"/>
          <p:nvPr/>
        </p:nvSpPr>
        <p:spPr>
          <a:xfrm>
            <a:off x="502920" y="1741244"/>
            <a:ext cx="1099099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17. Count placement offers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COUNT(*) AS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total_placements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placements WHERE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placement_status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IN ('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Offered','Accepted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');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18. Average package company-wise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c.company_name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, ROUND(AVG(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j.package_lpa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),2) AS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average_package_lpa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companies c JOIN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job_roles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j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c.company_id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=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j.company_id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GROUP BY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c.company_id,c.company_name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19. Technical assessment scores above 80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s.student_name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ass.technical_score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assessments ass JOIN applications a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ass.application_id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=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a.application_id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JOIN students s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a.student_id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=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s.student_id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WHERE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ass.technical_score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&gt; 80;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1800" dirty="0">
              <a:effectLst/>
              <a:latin typeface="+mn-lt"/>
              <a:ea typeface="MS Mincho" panose="020206090402050803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Gautami" panose="020B0502040204020203" pitchFamily="34" charset="0"/>
              </a:rPr>
              <a:t>20. Count applications per student</a:t>
            </a:r>
            <a:endParaRPr lang="en-IN" sz="1800" b="1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Gautami" panose="020B0502040204020203" pitchFamily="34" charset="0"/>
            </a:endParaRPr>
          </a:p>
          <a:p>
            <a:pPr marL="0" marR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s.student_name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, COUNT(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a.application_id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) AS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application_count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FROM students s LEFT JOIN applications a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s.student_id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=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a.student_id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 GROUP BY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s.student_id,s.student_name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  <a:t>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Gautami" panose="020B0502040204020203" pitchFamily="34" charset="0"/>
              </a:rPr>
            </a:br>
            <a:endParaRPr lang="en-IN" sz="950" dirty="0">
              <a:effectLst/>
              <a:latin typeface="Aptos" panose="020B0004020202020204" pitchFamily="34" charset="0"/>
              <a:ea typeface="MS Mincho" panose="02020609040205080304" pitchFamily="49" charset="-128"/>
              <a:cs typeface="Gautam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7755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1258</Words>
  <Application>Microsoft Office PowerPoint</Application>
  <PresentationFormat>Widescreen</PresentationFormat>
  <Paragraphs>313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Poornima Naidu Polanati</dc:creator>
  <cp:keywords/>
  <dc:description>generated using python-pptx</dc:description>
  <cp:lastModifiedBy>Sri Poornima Naidu Polanati</cp:lastModifiedBy>
  <cp:revision>2</cp:revision>
  <dcterms:created xsi:type="dcterms:W3CDTF">2013-01-27T09:14:16Z</dcterms:created>
  <dcterms:modified xsi:type="dcterms:W3CDTF">2026-10-26T13:58:36Z</dcterms:modified>
  <cp:category/>
</cp:coreProperties>
</file>